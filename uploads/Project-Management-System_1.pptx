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Funnel Sans"/>
      <p:regular r:id="rId15"/>
      <p:bold r:id="rId16"/>
      <p:italic r:id="rId17"/>
      <p:boldItalic r:id="rId18"/>
    </p:embeddedFont>
    <p:embeddedFont>
      <p:font typeface="Mona Sans SemiBold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aSansSemiBold-bold.fntdata"/><Relationship Id="rId11" Type="http://schemas.openxmlformats.org/officeDocument/2006/relationships/slide" Target="slides/slide7.xml"/><Relationship Id="rId22" Type="http://schemas.openxmlformats.org/officeDocument/2006/relationships/font" Target="fonts/MonaSansSemiBold-boldItalic.fntdata"/><Relationship Id="rId10" Type="http://schemas.openxmlformats.org/officeDocument/2006/relationships/slide" Target="slides/slide6.xml"/><Relationship Id="rId21" Type="http://schemas.openxmlformats.org/officeDocument/2006/relationships/font" Target="fonts/MonaSansSemiBold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FunnelSans-regular.fntdata"/><Relationship Id="rId14" Type="http://schemas.openxmlformats.org/officeDocument/2006/relationships/slide" Target="slides/slide10.xml"/><Relationship Id="rId17" Type="http://schemas.openxmlformats.org/officeDocument/2006/relationships/font" Target="fonts/FunnelSans-italic.fntdata"/><Relationship Id="rId16" Type="http://schemas.openxmlformats.org/officeDocument/2006/relationships/font" Target="fonts/FunnelSans-bold.fntdata"/><Relationship Id="rId5" Type="http://schemas.openxmlformats.org/officeDocument/2006/relationships/slide" Target="slides/slide1.xml"/><Relationship Id="rId19" Type="http://schemas.openxmlformats.org/officeDocument/2006/relationships/font" Target="fonts/MonaSansSemiBold-regular.fntdata"/><Relationship Id="rId6" Type="http://schemas.openxmlformats.org/officeDocument/2006/relationships/slide" Target="slides/slide2.xml"/><Relationship Id="rId18" Type="http://schemas.openxmlformats.org/officeDocument/2006/relationships/font" Target="fonts/Funnel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280190" y="1965722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 SemiBold"/>
              <a:buNone/>
            </a:pPr>
            <a:r>
              <a:rPr b="1" i="0" lang="en-US" sz="44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Zeal Institute — Project Management System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6280190" y="3723442"/>
            <a:ext cx="7556421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Digital solution to manage the end-to-end academic project lifecycle for ZIBACAR (affiliated to SPPU, AICTE approved, DTE recognized).</a:t>
            </a:r>
            <a:endParaRPr b="0" i="0" sz="1750" u="none" cap="none" strike="noStrike">
              <a:solidFill>
                <a:srgbClr val="52586B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                                                                       Presented by: Omkar Dhumal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                                                                                                  Nikhil Devkar               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12686250" y="7710500"/>
            <a:ext cx="1857000" cy="51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/>
          <p:nvPr/>
        </p:nvSpPr>
        <p:spPr>
          <a:xfrm>
            <a:off x="941490" y="1751796"/>
            <a:ext cx="6097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 SemiBold"/>
              <a:buNone/>
            </a:pPr>
            <a:r>
              <a:rPr b="1" i="0" lang="en-US" sz="44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Why a Digital System?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793790" y="3433763"/>
            <a:ext cx="3664744" cy="2410897"/>
          </a:xfrm>
          <a:prstGeom prst="roundRect">
            <a:avLst>
              <a:gd fmla="val 3952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1028224" y="366819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Current Challenges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1028224" y="4158615"/>
            <a:ext cx="319587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Manual tracking, scattered documents, missed deadlines, and high admin workload.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4685348" y="3433763"/>
            <a:ext cx="3664863" cy="2410897"/>
          </a:xfrm>
          <a:prstGeom prst="roundRect">
            <a:avLst>
              <a:gd fmla="val 3952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4919782" y="366819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Opportunity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4919782" y="4158615"/>
            <a:ext cx="3195995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Centralize monitoring, automate notifications, and enforce stage-wise progress tracking.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8" name="Google Shape;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/>
          <p:nvPr/>
        </p:nvSpPr>
        <p:spPr>
          <a:xfrm>
            <a:off x="6280201" y="3045975"/>
            <a:ext cx="61527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 SemiBold"/>
              <a:buNone/>
            </a:pPr>
            <a:r>
              <a:rPr b="1" i="0" lang="en-US" sz="44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System Architecture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6280190" y="4094917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Three-tier architecture: Presentation (UI/dashboards), Application (Flask backend, business logic), Data (MongoDB collections for users, batches, stages, submissions, notifications).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12686250" y="7710500"/>
            <a:ext cx="1857000" cy="51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1604605" y="1056323"/>
            <a:ext cx="5745242" cy="517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3250"/>
              <a:buFont typeface="Mona Sans SemiBold"/>
              <a:buNone/>
            </a:pPr>
            <a:r>
              <a:rPr b="1" i="0" lang="en-US" sz="32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Primary Roles &amp; Permissions</a:t>
            </a:r>
            <a:endParaRPr b="0" i="0" sz="3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605" y="2431613"/>
            <a:ext cx="7282339" cy="4064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9" name="Google Shape;8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8424" y="1890593"/>
            <a:ext cx="413742" cy="41374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/>
          <p:nvPr/>
        </p:nvSpPr>
        <p:spPr>
          <a:xfrm>
            <a:off x="9298424" y="2455307"/>
            <a:ext cx="2068949" cy="258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00"/>
              <a:buFont typeface="Mona Sans SemiBold"/>
              <a:buNone/>
            </a:pPr>
            <a:r>
              <a:rPr b="1" i="0" lang="en-US" sz="16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Admin (Coordinator)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9298424" y="2834640"/>
            <a:ext cx="3734752" cy="686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300"/>
              <a:buFont typeface="Funnel Sans"/>
              <a:buNone/>
            </a:pPr>
            <a:r>
              <a:rPr b="0" i="0" lang="en-US" sz="13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Create/manage batches, assign mentors, bulk upload students, configure stages/deadlines, monitor progress.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8424" y="3762970"/>
            <a:ext cx="413742" cy="41374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/>
          <p:nvPr/>
        </p:nvSpPr>
        <p:spPr>
          <a:xfrm>
            <a:off x="9298424" y="4327684"/>
            <a:ext cx="2068949" cy="258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00"/>
              <a:buFont typeface="Mona Sans SemiBold"/>
              <a:buNone/>
            </a:pPr>
            <a:r>
              <a:rPr b="1" i="0" lang="en-US" sz="16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Faculty (Mentor)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9298424" y="4707017"/>
            <a:ext cx="3734752" cy="686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300"/>
              <a:buFont typeface="Funnel Sans"/>
              <a:buNone/>
            </a:pPr>
            <a:r>
              <a:rPr b="0" i="0" lang="en-US" sz="13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View assigned students, review &amp; approve submissions, add remarks, track stage-wise progress.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8424" y="5635347"/>
            <a:ext cx="413742" cy="41374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9298424" y="6200061"/>
            <a:ext cx="2068949" cy="258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00"/>
              <a:buFont typeface="Mona Sans SemiBold"/>
              <a:buNone/>
            </a:pPr>
            <a:r>
              <a:rPr b="1" i="0" lang="en-US" sz="16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Student (Mentee)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9298424" y="6579394"/>
            <a:ext cx="3734752" cy="457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300"/>
              <a:buFont typeface="Funnel Sans"/>
              <a:buNone/>
            </a:pPr>
            <a:r>
              <a:rPr b="0" i="0" lang="en-US" sz="13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Upload documents, view mentor, track deadlines and statuses, receive notifications.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12686250" y="7710500"/>
            <a:ext cx="1857000" cy="51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/>
          <p:nvPr/>
        </p:nvSpPr>
        <p:spPr>
          <a:xfrm>
            <a:off x="793790" y="1326164"/>
            <a:ext cx="7879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 SemiBold"/>
              <a:buNone/>
            </a:pPr>
            <a:r>
              <a:rPr b="1" i="0" lang="en-US" sz="44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Scope — Core Functionalities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184922"/>
            <a:ext cx="1205984" cy="150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/>
          <p:nvPr/>
        </p:nvSpPr>
        <p:spPr>
          <a:xfrm>
            <a:off x="2283262" y="3184922"/>
            <a:ext cx="2669143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Batch &amp; Stage Management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2283262" y="4029670"/>
            <a:ext cx="2669143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Create/reorder stages, set deadlines, and monitor batch progress.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5893" y="3184922"/>
            <a:ext cx="1205984" cy="150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/>
          <p:nvPr/>
        </p:nvSpPr>
        <p:spPr>
          <a:xfrm>
            <a:off x="6725364" y="3184922"/>
            <a:ext cx="2669143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Submission Workflow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6725364" y="4029670"/>
            <a:ext cx="2669143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Upload, review, approve/reject with remarks; support PDF/DOC/PPT and replacements before approval.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77995" y="3184922"/>
            <a:ext cx="1205984" cy="150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/>
          <p:nvPr/>
        </p:nvSpPr>
        <p:spPr>
          <a:xfrm>
            <a:off x="11167467" y="3184922"/>
            <a:ext cx="266914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Notifications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11167467" y="3675340"/>
            <a:ext cx="266914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Automated email and in-app alerts for deadlines, approvals, and late submissions.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12686250" y="7710500"/>
            <a:ext cx="1857000" cy="51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/>
          <p:nvPr/>
        </p:nvSpPr>
        <p:spPr>
          <a:xfrm>
            <a:off x="793790" y="102334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 SemiBold"/>
              <a:buNone/>
            </a:pPr>
            <a:r>
              <a:rPr b="1" i="0" lang="en-US" sz="44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Technical Stack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327434"/>
            <a:ext cx="8284131" cy="462367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/>
          <p:nvPr/>
        </p:nvSpPr>
        <p:spPr>
          <a:xfrm>
            <a:off x="9638943" y="2966680"/>
            <a:ext cx="4205168" cy="2415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Frontend: HTML5, CSS3, JavaScript (ES6)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Backend: Python (Flask)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Database: MongoDB (NoSQL)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Tools: VS Code, MongoDB Compass, modern browsers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9638943" y="5586055"/>
            <a:ext cx="420516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Open-source stack ensures economic feasibility and easy deployment.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12686250" y="7710500"/>
            <a:ext cx="1857000" cy="51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0" name="Google Shape;1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/>
          <p:nvPr/>
        </p:nvSpPr>
        <p:spPr>
          <a:xfrm>
            <a:off x="793790" y="380249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 SemiBold"/>
              <a:buNone/>
            </a:pPr>
            <a:r>
              <a:rPr b="1" i="0" lang="en-US" sz="44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Feasibility Overview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793790" y="4851440"/>
            <a:ext cx="13042821" cy="2410897"/>
          </a:xfrm>
          <a:prstGeom prst="roundRect">
            <a:avLst>
              <a:gd fmla="val 3952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801410" y="4859060"/>
            <a:ext cx="3256836" cy="2395657"/>
          </a:xfrm>
          <a:prstGeom prst="roundRect">
            <a:avLst>
              <a:gd fmla="val 3977" name="adj"/>
            </a:avLst>
          </a:prstGeom>
          <a:solidFill>
            <a:srgbClr val="E2E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1028224" y="5085874"/>
            <a:ext cx="280320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Operational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1028224" y="5576292"/>
            <a:ext cx="2803208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User-friendly, minimal training; browser-based access for students and faculty.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4058245" y="4859060"/>
            <a:ext cx="3256955" cy="2395657"/>
          </a:xfrm>
          <a:prstGeom prst="rect">
            <a:avLst/>
          </a:prstGeom>
          <a:solidFill>
            <a:srgbClr val="E2E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4058245" y="4859060"/>
            <a:ext cx="30480" cy="2395657"/>
          </a:xfrm>
          <a:prstGeom prst="roundRect">
            <a:avLst>
              <a:gd fmla="val 312558" name="adj"/>
            </a:avLst>
          </a:prstGeom>
          <a:solidFill>
            <a:srgbClr val="C8CA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>
            <a:off x="4285059" y="5085874"/>
            <a:ext cx="280332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Technical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4285059" y="5576292"/>
            <a:ext cx="280332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Proven open-source technologies; modular design for scalability.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7315200" y="4859060"/>
            <a:ext cx="3256836" cy="2395657"/>
          </a:xfrm>
          <a:prstGeom prst="rect">
            <a:avLst/>
          </a:prstGeom>
          <a:solidFill>
            <a:srgbClr val="E2E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7315200" y="4859060"/>
            <a:ext cx="30480" cy="2395657"/>
          </a:xfrm>
          <a:prstGeom prst="roundRect">
            <a:avLst>
              <a:gd fmla="val 312558" name="adj"/>
            </a:avLst>
          </a:prstGeom>
          <a:solidFill>
            <a:srgbClr val="C8CA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7542014" y="5085874"/>
            <a:ext cx="280320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Economic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7542014" y="5576292"/>
            <a:ext cx="2803208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No licensing costs; deployable on free or low-cost hosting.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10572036" y="4859060"/>
            <a:ext cx="3256955" cy="2395657"/>
          </a:xfrm>
          <a:prstGeom prst="rect">
            <a:avLst/>
          </a:prstGeom>
          <a:solidFill>
            <a:srgbClr val="E2E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10572036" y="4859060"/>
            <a:ext cx="30480" cy="2395657"/>
          </a:xfrm>
          <a:prstGeom prst="roundRect">
            <a:avLst>
              <a:gd fmla="val 312558" name="adj"/>
            </a:avLst>
          </a:prstGeom>
          <a:solidFill>
            <a:srgbClr val="C8CA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10798850" y="5085874"/>
            <a:ext cx="280332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Time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10798850" y="5576292"/>
            <a:ext cx="280332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Modular scope allows completion within an academic project timeline.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12686250" y="7710500"/>
            <a:ext cx="1857000" cy="51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793790" y="1394588"/>
            <a:ext cx="11905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 SemiBold"/>
              <a:buNone/>
            </a:pPr>
            <a:r>
              <a:rPr b="1" i="0" lang="en-US" sz="44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Functional &amp; Non-Functional Requirements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793790" y="3303389"/>
            <a:ext cx="2966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Key Functional Needs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793790" y="4158853"/>
            <a:ext cx="6244709" cy="1689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Secure login &amp; role-based access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Bulk student upload (Excel)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Stage-wise submission &amp; approval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Deadline monitoring &amp; late detection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7599521" y="3345592"/>
            <a:ext cx="3653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Non-Functional Standards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7599521" y="4158853"/>
            <a:ext cx="6244709" cy="1689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Performance: fast load, efficient uploads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Usability: responsive, intuitive UI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Security: authenticated access, secure file storage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Compatibility: desktop/tablet/mobile, modern browsers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12686250" y="7710500"/>
            <a:ext cx="1857000" cy="51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/>
          <p:nvPr/>
        </p:nvSpPr>
        <p:spPr>
          <a:xfrm>
            <a:off x="749856" y="589240"/>
            <a:ext cx="9247227" cy="669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200"/>
              <a:buFont typeface="Mona Sans SemiBold"/>
              <a:buNone/>
            </a:pPr>
            <a:r>
              <a:rPr b="1" i="0" lang="en-US" sz="42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Operating Environment &amp; Hardware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56" y="2064306"/>
            <a:ext cx="4255888" cy="567452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/>
          <p:nvPr/>
        </p:nvSpPr>
        <p:spPr>
          <a:xfrm>
            <a:off x="5536049" y="4036100"/>
            <a:ext cx="83519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50"/>
              <a:buFont typeface="Funnel Sans"/>
              <a:buNone/>
            </a:pPr>
            <a:r>
              <a:rPr b="0" i="0" lang="en-US" sz="16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Minimum hardware: PC/laptop, 4 GB RAM, 20 GB free storage, stable internet.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5536049" y="4551640"/>
            <a:ext cx="8351996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50"/>
              <a:buFont typeface="Funnel Sans"/>
              <a:buNone/>
            </a:pPr>
            <a:r>
              <a:rPr b="0" i="0" lang="en-US" sz="16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Software environment: Windows OS, Chrome/Firefox/Edge, Flask backend, MongoDB database, VS Code for development.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12686250" y="7710500"/>
            <a:ext cx="1857000" cy="51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5" name="Google Shape;1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/>
          <p:nvPr/>
        </p:nvSpPr>
        <p:spPr>
          <a:xfrm>
            <a:off x="793790" y="1452682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 SemiBold"/>
              <a:buNone/>
            </a:pPr>
            <a:r>
              <a:rPr b="1" i="0" lang="en-US" sz="44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Expected Benefits &amp; Next Steps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793790" y="3210401"/>
            <a:ext cx="226814" cy="1669852"/>
          </a:xfrm>
          <a:prstGeom prst="roundRect">
            <a:avLst>
              <a:gd fmla="val 42003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1247418" y="34372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Benefits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1247418" y="3927634"/>
            <a:ext cx="710279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Centralized monitoring, reduced admin effort, transparent stage tracking, timely notifications.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1133951" y="5107067"/>
            <a:ext cx="226814" cy="1669852"/>
          </a:xfrm>
          <a:prstGeom prst="roundRect">
            <a:avLst>
              <a:gd fmla="val 42003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1587579" y="533388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Next Steps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1587579" y="5824299"/>
            <a:ext cx="676263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Finalize requirements, develop modular sprints, deploy to cloud, pilot with one batch, iterate on feedback.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12686250" y="7710500"/>
            <a:ext cx="1857000" cy="51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